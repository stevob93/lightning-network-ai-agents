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
      <p:font typeface="Maven Pro"/>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19" Type="http://schemas.openxmlformats.org/officeDocument/2006/relationships/font" Target="fonts/MavenPro-regular.fntdata"/><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c2c2c1fac0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c2c2c1fac0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c2c2c1fac0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c2c2c1fac0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2c2c1fac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2c2c1fac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2c2c1fac0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c2c2c1fac0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2c2c1fac0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2c2c1fac0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2c2c1fac0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c2c2c1fac0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2c2c1fac0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2c2c1fac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2c2c1fac0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2c2c1fac0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AI Agent Integrations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4"/>
          <p:cNvSpPr txBox="1"/>
          <p:nvPr>
            <p:ph type="title"/>
          </p:nvPr>
        </p:nvSpPr>
        <p:spPr>
          <a:xfrm>
            <a:off x="824000" y="1613825"/>
            <a:ext cx="58578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My role:</a:t>
            </a:r>
            <a:endParaRPr/>
          </a:p>
          <a:p>
            <a:pPr indent="0" lvl="0" marL="0" rtl="0" algn="l">
              <a:spcBef>
                <a:spcPts val="0"/>
              </a:spcBef>
              <a:spcAft>
                <a:spcPts val="0"/>
              </a:spcAft>
              <a:buNone/>
            </a:pPr>
            <a:r>
              <a:rPr lang="en"/>
              <a:t>“Agent communication &amp; MCP Architecture”</a:t>
            </a:r>
            <a:endParaRPr/>
          </a:p>
          <a:p>
            <a:pPr indent="0" lvl="0" marL="0" rtl="0" algn="l">
              <a:spcBef>
                <a:spcPts val="0"/>
              </a:spcBef>
              <a:spcAft>
                <a:spcPts val="0"/>
              </a:spcAft>
              <a:buNone/>
            </a:pPr>
            <a:r>
              <a:rPr lang="en" sz="1750"/>
              <a:t>To put it simply, I will be  defining how AI agents safely talk to lightning nodes</a:t>
            </a:r>
            <a:endParaRPr sz="17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a:t>
            </a:r>
            <a:endParaRPr/>
          </a:p>
        </p:txBody>
      </p:sp>
      <p:sp>
        <p:nvSpPr>
          <p:cNvPr id="288" name="Google Shape;288;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Lightining nodes control real money</a:t>
            </a:r>
            <a:endParaRPr sz="2000"/>
          </a:p>
          <a:p>
            <a:pPr indent="-355600" lvl="0" marL="457200" rtl="0" algn="l">
              <a:spcBef>
                <a:spcPts val="0"/>
              </a:spcBef>
              <a:spcAft>
                <a:spcPts val="0"/>
              </a:spcAft>
              <a:buSzPts val="2000"/>
              <a:buChar char="●"/>
            </a:pPr>
            <a:r>
              <a:rPr lang="en" sz="2000"/>
              <a:t>LLMs cannot call RPC directly</a:t>
            </a:r>
            <a:endParaRPr sz="2000"/>
          </a:p>
          <a:p>
            <a:pPr indent="-355600" lvl="0" marL="457200" rtl="0" algn="l">
              <a:spcBef>
                <a:spcPts val="0"/>
              </a:spcBef>
              <a:spcAft>
                <a:spcPts val="0"/>
              </a:spcAft>
              <a:buSzPts val="2000"/>
              <a:buChar char="●"/>
            </a:pPr>
            <a:r>
              <a:rPr lang="en" sz="2000"/>
              <a:t>We need a safe, structured interface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vs A2A</a:t>
            </a:r>
            <a:endParaRPr/>
          </a:p>
        </p:txBody>
      </p:sp>
      <p:sp>
        <p:nvSpPr>
          <p:cNvPr id="294" name="Google Shape;294;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rgbClr val="000000"/>
              </a:buClr>
              <a:buSzPts val="1600"/>
              <a:buFont typeface="Arial"/>
              <a:buChar char="●"/>
            </a:pPr>
            <a:r>
              <a:rPr lang="en" sz="1600">
                <a:solidFill>
                  <a:srgbClr val="000000"/>
                </a:solidFill>
                <a:latin typeface="Arial"/>
                <a:ea typeface="Arial"/>
                <a:cs typeface="Arial"/>
                <a:sym typeface="Arial"/>
              </a:rPr>
              <a:t>MCP = agent ↔ tools / environment</a:t>
            </a:r>
            <a:br>
              <a:rPr lang="en"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A2A = agent ↔ agent coordination</a:t>
            </a:r>
            <a:br>
              <a:rPr lang="en"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indent="0" lvl="0" marL="0" rtl="0" algn="l">
              <a:spcBef>
                <a:spcPts val="1200"/>
              </a:spcBef>
              <a:spcAft>
                <a:spcPts val="0"/>
              </a:spcAft>
              <a:buNone/>
            </a:pPr>
            <a:r>
              <a:rPr b="1" lang="en" sz="1600">
                <a:solidFill>
                  <a:srgbClr val="000000"/>
                </a:solidFill>
                <a:latin typeface="Arial"/>
                <a:ea typeface="Arial"/>
                <a:cs typeface="Arial"/>
                <a:sym typeface="Arial"/>
              </a:rPr>
              <a:t>Decision:</a:t>
            </a:r>
            <a:r>
              <a:rPr lang="en" sz="1600">
                <a:solidFill>
                  <a:srgbClr val="000000"/>
                </a:solidFill>
                <a:latin typeface="Arial"/>
                <a:ea typeface="Arial"/>
                <a:cs typeface="Arial"/>
                <a:sym typeface="Arial"/>
              </a:rPr>
              <a:t> MCP is required, A2A optional</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mcp instead of a2a</a:t>
            </a:r>
            <a:endParaRPr/>
          </a:p>
        </p:txBody>
      </p:sp>
      <p:sp>
        <p:nvSpPr>
          <p:cNvPr id="300" name="Google Shape;300;p17"/>
          <p:cNvSpPr txBox="1"/>
          <p:nvPr>
            <p:ph idx="1" type="body"/>
          </p:nvPr>
        </p:nvSpPr>
        <p:spPr>
          <a:xfrm>
            <a:off x="436150" y="1597875"/>
            <a:ext cx="4298100" cy="2933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Model Context Protocol</a:t>
            </a:r>
            <a:endParaRPr/>
          </a:p>
          <a:p>
            <a:pPr indent="-310832" lvl="0" marL="457200" rtl="0" algn="l">
              <a:spcBef>
                <a:spcPts val="1200"/>
              </a:spcBef>
              <a:spcAft>
                <a:spcPts val="0"/>
              </a:spcAft>
              <a:buClr>
                <a:srgbClr val="000000"/>
              </a:buClr>
              <a:buSzPct val="100000"/>
              <a:buFont typeface="Arial"/>
              <a:buChar char="●"/>
            </a:pPr>
            <a:r>
              <a:rPr lang="en" sz="1400">
                <a:solidFill>
                  <a:srgbClr val="000000"/>
                </a:solidFill>
                <a:latin typeface="Arial"/>
                <a:ea typeface="Arial"/>
                <a:cs typeface="Arial"/>
                <a:sym typeface="Arial"/>
              </a:rPr>
              <a:t>Designed for agent ↔ tools / environment interaction</a:t>
            </a:r>
            <a:endParaRPr sz="1400">
              <a:solidFill>
                <a:srgbClr val="000000"/>
              </a:solidFill>
              <a:latin typeface="Arial"/>
              <a:ea typeface="Arial"/>
              <a:cs typeface="Arial"/>
              <a:sym typeface="Arial"/>
            </a:endParaRPr>
          </a:p>
          <a:p>
            <a:pPr indent="-310832" lvl="0" marL="457200" rtl="0" algn="l">
              <a:spcBef>
                <a:spcPts val="0"/>
              </a:spcBef>
              <a:spcAft>
                <a:spcPts val="0"/>
              </a:spcAft>
              <a:buClr>
                <a:srgbClr val="000000"/>
              </a:buClr>
              <a:buSzPct val="100000"/>
              <a:buFont typeface="Arial"/>
              <a:buChar char="●"/>
            </a:pPr>
            <a:r>
              <a:rPr lang="en" sz="1400">
                <a:solidFill>
                  <a:srgbClr val="000000"/>
                </a:solidFill>
                <a:latin typeface="Arial"/>
                <a:ea typeface="Arial"/>
                <a:cs typeface="Arial"/>
                <a:sym typeface="Arial"/>
              </a:rPr>
              <a:t>Ideal for exposing Lightning node RPCs (payments, channels, fees) as structured tools</a:t>
            </a:r>
            <a:endParaRPr sz="1400">
              <a:solidFill>
                <a:srgbClr val="000000"/>
              </a:solidFill>
              <a:latin typeface="Arial"/>
              <a:ea typeface="Arial"/>
              <a:cs typeface="Arial"/>
              <a:sym typeface="Arial"/>
            </a:endParaRPr>
          </a:p>
          <a:p>
            <a:pPr indent="-310832" lvl="0" marL="457200" rtl="0" algn="l">
              <a:spcBef>
                <a:spcPts val="0"/>
              </a:spcBef>
              <a:spcAft>
                <a:spcPts val="0"/>
              </a:spcAft>
              <a:buClr>
                <a:srgbClr val="000000"/>
              </a:buClr>
              <a:buSzPct val="100000"/>
              <a:buFont typeface="Arial"/>
              <a:buChar char="●"/>
            </a:pPr>
            <a:r>
              <a:rPr lang="en" sz="1400">
                <a:solidFill>
                  <a:srgbClr val="000000"/>
                </a:solidFill>
                <a:latin typeface="Arial"/>
                <a:ea typeface="Arial"/>
                <a:cs typeface="Arial"/>
                <a:sym typeface="Arial"/>
              </a:rPr>
              <a:t>Enforces clear input/output schemas, reducing ambiguity and hallucinations</a:t>
            </a:r>
            <a:endParaRPr sz="1400">
              <a:solidFill>
                <a:srgbClr val="000000"/>
              </a:solidFill>
              <a:latin typeface="Arial"/>
              <a:ea typeface="Arial"/>
              <a:cs typeface="Arial"/>
              <a:sym typeface="Arial"/>
            </a:endParaRPr>
          </a:p>
          <a:p>
            <a:pPr indent="-310832" lvl="0" marL="457200" rtl="0" algn="l">
              <a:spcBef>
                <a:spcPts val="0"/>
              </a:spcBef>
              <a:spcAft>
                <a:spcPts val="0"/>
              </a:spcAft>
              <a:buClr>
                <a:srgbClr val="000000"/>
              </a:buClr>
              <a:buSzPct val="100000"/>
              <a:buFont typeface="Arial"/>
              <a:buChar char="●"/>
            </a:pPr>
            <a:r>
              <a:rPr lang="en" sz="1400">
                <a:solidFill>
                  <a:srgbClr val="000000"/>
                </a:solidFill>
                <a:latin typeface="Arial"/>
                <a:ea typeface="Arial"/>
                <a:cs typeface="Arial"/>
                <a:sym typeface="Arial"/>
              </a:rPr>
              <a:t>Enables validation and policy enforcement before executing financial actions</a:t>
            </a:r>
            <a:endParaRPr sz="1400">
              <a:solidFill>
                <a:srgbClr val="000000"/>
              </a:solidFill>
              <a:latin typeface="Arial"/>
              <a:ea typeface="Arial"/>
              <a:cs typeface="Arial"/>
              <a:sym typeface="Arial"/>
            </a:endParaRPr>
          </a:p>
          <a:p>
            <a:pPr indent="-310832" lvl="0" marL="457200" rtl="0" algn="l">
              <a:spcBef>
                <a:spcPts val="0"/>
              </a:spcBef>
              <a:spcAft>
                <a:spcPts val="0"/>
              </a:spcAft>
              <a:buClr>
                <a:srgbClr val="000000"/>
              </a:buClr>
              <a:buSzPct val="100000"/>
              <a:buFont typeface="Arial"/>
              <a:buChar char="●"/>
            </a:pPr>
            <a:r>
              <a:rPr lang="en" sz="1400">
                <a:solidFill>
                  <a:srgbClr val="000000"/>
                </a:solidFill>
                <a:latin typeface="Arial"/>
                <a:ea typeface="Arial"/>
                <a:cs typeface="Arial"/>
                <a:sym typeface="Arial"/>
              </a:rPr>
              <a:t>Supports auditability and logging, critical for systems handling real money</a:t>
            </a:r>
            <a:endParaRPr sz="1400">
              <a:solidFill>
                <a:srgbClr val="000000"/>
              </a:solidFill>
              <a:latin typeface="Arial"/>
              <a:ea typeface="Arial"/>
              <a:cs typeface="Arial"/>
              <a:sym typeface="Arial"/>
            </a:endParaRPr>
          </a:p>
          <a:p>
            <a:pPr indent="-310832" lvl="0" marL="457200" rtl="0" algn="l">
              <a:spcBef>
                <a:spcPts val="0"/>
              </a:spcBef>
              <a:spcAft>
                <a:spcPts val="0"/>
              </a:spcAft>
              <a:buClr>
                <a:srgbClr val="000000"/>
              </a:buClr>
              <a:buSzPct val="100000"/>
              <a:buFont typeface="Arial"/>
              <a:buChar char="●"/>
            </a:pPr>
            <a:r>
              <a:rPr lang="en" sz="1400">
                <a:solidFill>
                  <a:srgbClr val="000000"/>
                </a:solidFill>
                <a:latin typeface="Arial"/>
                <a:ea typeface="Arial"/>
                <a:cs typeface="Arial"/>
                <a:sym typeface="Arial"/>
              </a:rPr>
              <a:t>Matches the SoK reference architecture for blockchain AI agents</a:t>
            </a:r>
            <a:endParaRPr sz="1600"/>
          </a:p>
        </p:txBody>
      </p:sp>
      <p:sp>
        <p:nvSpPr>
          <p:cNvPr id="301" name="Google Shape;301;p17"/>
          <p:cNvSpPr txBox="1"/>
          <p:nvPr>
            <p:ph idx="2" type="body"/>
          </p:nvPr>
        </p:nvSpPr>
        <p:spPr>
          <a:xfrm>
            <a:off x="4903650" y="1597950"/>
            <a:ext cx="3984600" cy="29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Agent to Agent</a:t>
            </a:r>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Designed for agent ↔ agent coordination and negotiation</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Useful when multiple autonomous agents collaborate or compete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Requires agent discovery, identity, and trust assumptions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Adds architectural complexity not needed for a single-agent Lightning controller</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mcp instead of a2a</a:t>
            </a:r>
            <a:endParaRPr/>
          </a:p>
        </p:txBody>
      </p:sp>
      <p:sp>
        <p:nvSpPr>
          <p:cNvPr id="307" name="Google Shape;307;p18"/>
          <p:cNvSpPr txBox="1"/>
          <p:nvPr>
            <p:ph idx="1" type="body"/>
          </p:nvPr>
        </p:nvSpPr>
        <p:spPr>
          <a:xfrm>
            <a:off x="1303800" y="1990050"/>
            <a:ext cx="7030500" cy="25416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Our system currently uses one primary AI agent controlling a Lightning node</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Lightning nodes are treated as tools, not agents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MCP provides the simplest, safest, and most academically aligned interface</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A2A is deferred as future work for multi-agent Lightning experiments</a:t>
            </a:r>
            <a:endParaRPr sz="1700">
              <a:solidFill>
                <a:srgbClr val="000000"/>
              </a:solidFill>
              <a:latin typeface="Arial"/>
              <a:ea typeface="Arial"/>
              <a:cs typeface="Arial"/>
              <a:sym typeface="Arial"/>
            </a:endParaRPr>
          </a:p>
          <a:p>
            <a:pPr indent="0" lvl="0" marL="457200" rtl="0" algn="l">
              <a:spcBef>
                <a:spcPts val="1200"/>
              </a:spcBef>
              <a:spcAft>
                <a:spcPts val="1200"/>
              </a:spcAft>
              <a:buNone/>
            </a:pPr>
            <a:r>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tool examples</a:t>
            </a:r>
            <a:endParaRPr/>
          </a:p>
        </p:txBody>
      </p:sp>
      <p:sp>
        <p:nvSpPr>
          <p:cNvPr id="313" name="Google Shape;313;p19"/>
          <p:cNvSpPr txBox="1"/>
          <p:nvPr>
            <p:ph idx="1" type="body"/>
          </p:nvPr>
        </p:nvSpPr>
        <p:spPr>
          <a:xfrm>
            <a:off x="717275" y="1597875"/>
            <a:ext cx="3268200" cy="2541600"/>
          </a:xfrm>
          <a:prstGeom prst="rect">
            <a:avLst/>
          </a:prstGeom>
        </p:spPr>
        <p:txBody>
          <a:bodyPr anchorCtr="0" anchor="t" bIns="91425" lIns="91425" spcFirstLastPara="1" rIns="91425" wrap="square" tIns="91425">
            <a:normAutofit fontScale="25000" lnSpcReduction="20000"/>
          </a:bodyPr>
          <a:lstStyle/>
          <a:p>
            <a:pPr indent="-347663" lvl="0" marL="457200" rtl="0" algn="l">
              <a:spcBef>
                <a:spcPts val="1200"/>
              </a:spcBef>
              <a:spcAft>
                <a:spcPts val="0"/>
              </a:spcAft>
              <a:buClr>
                <a:srgbClr val="000000"/>
              </a:buClr>
              <a:buSzPct val="97402"/>
              <a:buFont typeface="Arial"/>
              <a:buChar char="●"/>
            </a:pPr>
            <a:r>
              <a:rPr lang="en" sz="7700"/>
              <a:t>get_balance</a:t>
            </a:r>
            <a:endParaRPr sz="7700"/>
          </a:p>
          <a:p>
            <a:pPr indent="-347663" lvl="0" marL="457200" rtl="0" algn="l">
              <a:spcBef>
                <a:spcPts val="0"/>
              </a:spcBef>
              <a:spcAft>
                <a:spcPts val="0"/>
              </a:spcAft>
              <a:buClr>
                <a:srgbClr val="000000"/>
              </a:buClr>
              <a:buSzPct val="97402"/>
              <a:buFont typeface="Arial"/>
              <a:buChar char="●"/>
            </a:pPr>
            <a:r>
              <a:rPr lang="en" sz="7700"/>
              <a:t>list_channels</a:t>
            </a:r>
            <a:endParaRPr sz="7700"/>
          </a:p>
          <a:p>
            <a:pPr indent="-347663" lvl="0" marL="457200" rtl="0" algn="l">
              <a:spcBef>
                <a:spcPts val="0"/>
              </a:spcBef>
              <a:spcAft>
                <a:spcPts val="0"/>
              </a:spcAft>
              <a:buClr>
                <a:srgbClr val="000000"/>
              </a:buClr>
              <a:buSzPct val="97402"/>
              <a:buFont typeface="Arial"/>
              <a:buChar char="●"/>
            </a:pPr>
            <a:r>
              <a:rPr lang="en" sz="7700"/>
              <a:t>decode_invoice</a:t>
            </a:r>
            <a:endParaRPr sz="7700"/>
          </a:p>
          <a:p>
            <a:pPr indent="-347663" lvl="0" marL="457200" rtl="0" algn="l">
              <a:spcBef>
                <a:spcPts val="0"/>
              </a:spcBef>
              <a:spcAft>
                <a:spcPts val="0"/>
              </a:spcAft>
              <a:buClr>
                <a:srgbClr val="000000"/>
              </a:buClr>
              <a:buSzPct val="97402"/>
              <a:buFont typeface="Arial"/>
              <a:buChar char="●"/>
            </a:pPr>
            <a:r>
              <a:rPr lang="en" sz="7700"/>
              <a:t>send_payment</a:t>
            </a:r>
            <a:endParaRPr sz="7700"/>
          </a:p>
          <a:p>
            <a:pPr indent="-347663" lvl="0" marL="457200" rtl="0" algn="l">
              <a:spcBef>
                <a:spcPts val="0"/>
              </a:spcBef>
              <a:spcAft>
                <a:spcPts val="0"/>
              </a:spcAft>
              <a:buClr>
                <a:srgbClr val="000000"/>
              </a:buClr>
              <a:buSzPct val="97402"/>
              <a:buFont typeface="Arial"/>
              <a:buChar char="●"/>
            </a:pPr>
            <a:r>
              <a:rPr lang="en" sz="7700"/>
              <a:t>open_channel</a:t>
            </a:r>
            <a:endParaRPr sz="7700"/>
          </a:p>
          <a:p>
            <a:pPr indent="-347663" lvl="0" marL="457200" rtl="0" algn="l">
              <a:spcBef>
                <a:spcPts val="0"/>
              </a:spcBef>
              <a:spcAft>
                <a:spcPts val="0"/>
              </a:spcAft>
              <a:buClr>
                <a:srgbClr val="000000"/>
              </a:buClr>
              <a:buSzPct val="97402"/>
              <a:buFont typeface="Arial"/>
              <a:buChar char="●"/>
            </a:pPr>
            <a:r>
              <a:rPr lang="en" sz="7700"/>
              <a:t>set_channel_fee</a:t>
            </a:r>
            <a:endParaRPr sz="7700"/>
          </a:p>
          <a:p>
            <a:pPr indent="0" lvl="0" marL="0" rtl="0" algn="l">
              <a:spcBef>
                <a:spcPts val="1200"/>
              </a:spcBef>
              <a:spcAft>
                <a:spcPts val="0"/>
              </a:spcAft>
              <a:buNone/>
            </a:pPr>
            <a:r>
              <a:rPr lang="en" sz="7700"/>
              <a:t>Highlights:</a:t>
            </a:r>
            <a:endParaRPr sz="7700"/>
          </a:p>
          <a:p>
            <a:pPr indent="-347663" lvl="0" marL="457200" rtl="0" algn="l">
              <a:spcBef>
                <a:spcPts val="1200"/>
              </a:spcBef>
              <a:spcAft>
                <a:spcPts val="0"/>
              </a:spcAft>
              <a:buClr>
                <a:srgbClr val="000000"/>
              </a:buClr>
              <a:buSzPct val="97402"/>
              <a:buFont typeface="Arial"/>
              <a:buChar char="●"/>
            </a:pPr>
            <a:r>
              <a:rPr lang="en" sz="7700"/>
              <a:t>read vs write</a:t>
            </a:r>
            <a:endParaRPr sz="7700"/>
          </a:p>
          <a:p>
            <a:pPr indent="-347663" lvl="0" marL="457200" rtl="0" algn="l">
              <a:spcBef>
                <a:spcPts val="0"/>
              </a:spcBef>
              <a:spcAft>
                <a:spcPts val="0"/>
              </a:spcAft>
              <a:buClr>
                <a:srgbClr val="000000"/>
              </a:buClr>
              <a:buSzPct val="97402"/>
              <a:buFont typeface="Arial"/>
              <a:buChar char="●"/>
            </a:pPr>
            <a:r>
              <a:rPr lang="en" sz="7700"/>
              <a:t>validation required</a:t>
            </a:r>
            <a:endParaRPr sz="7700"/>
          </a:p>
          <a:p>
            <a:pPr indent="0" lvl="0" marL="0" rtl="0" algn="l">
              <a:spcBef>
                <a:spcPts val="1200"/>
              </a:spcBef>
              <a:spcAft>
                <a:spcPts val="1200"/>
              </a:spcAft>
              <a:buNone/>
            </a:pPr>
            <a:r>
              <a:t/>
            </a:r>
            <a:endParaRPr/>
          </a:p>
        </p:txBody>
      </p:sp>
      <p:sp>
        <p:nvSpPr>
          <p:cNvPr id="314" name="Google Shape;314;p19"/>
          <p:cNvSpPr txBox="1"/>
          <p:nvPr/>
        </p:nvSpPr>
        <p:spPr>
          <a:xfrm>
            <a:off x="4075725" y="1296975"/>
            <a:ext cx="4632000" cy="31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t>In our system, the Model Context Protocol (MCP) exposes Lightning Network functionality to the AI agent as a set of structured tools with clearly defined permissions. Read-only tools such as get_balance, list_channels, and decode_invoice allow the agent to safely observe wallet state, channel liquidity, and invoice parameters without modifying network state. Write-capable tools, including send_payment, open_channel, and set_channel_fee, enable the agent to perform financial or network-altering actions and therefore require strict validation and policy enforcement. All write operations must pass through a validator and policy engine to enforce constraints such as fee limits, spending caps, channel size restrictions, and human-in-the-loop confirmation when necessary. This separation of read versus write tools ensures that the agent can reason effectively while preventing unsafe or unauthorized Lightning operations, aligning with the SoK architecture’s security and accountability requirements.</a:t>
            </a:r>
            <a:endParaRPr sz="1500">
              <a:solidFill>
                <a:schemeClr val="dk2"/>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MCP fits in our system</a:t>
            </a:r>
            <a:endParaRPr/>
          </a:p>
        </p:txBody>
      </p:sp>
      <p:pic>
        <p:nvPicPr>
          <p:cNvPr id="320" name="Google Shape;320;p20"/>
          <p:cNvPicPr preferRelativeResize="0"/>
          <p:nvPr/>
        </p:nvPicPr>
        <p:blipFill>
          <a:blip r:embed="rId3">
            <a:alphaModFix/>
          </a:blip>
          <a:stretch>
            <a:fillRect/>
          </a:stretch>
        </p:blipFill>
        <p:spPr>
          <a:xfrm>
            <a:off x="1770900" y="1288175"/>
            <a:ext cx="5602199" cy="3734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Sequence diagram</a:t>
            </a:r>
            <a:endParaRPr/>
          </a:p>
        </p:txBody>
      </p:sp>
      <p:pic>
        <p:nvPicPr>
          <p:cNvPr id="326" name="Google Shape;326;p21"/>
          <p:cNvPicPr preferRelativeResize="0"/>
          <p:nvPr/>
        </p:nvPicPr>
        <p:blipFill>
          <a:blip r:embed="rId3">
            <a:alphaModFix/>
          </a:blip>
          <a:stretch>
            <a:fillRect/>
          </a:stretch>
        </p:blipFill>
        <p:spPr>
          <a:xfrm>
            <a:off x="1303800" y="1208200"/>
            <a:ext cx="5722525" cy="3814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